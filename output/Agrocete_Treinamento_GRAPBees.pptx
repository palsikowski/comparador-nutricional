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jpg"/><Relationship Id="rId3" Type="http://schemas.openxmlformats.org/officeDocument/2006/relationships/image" Target="../media/image-2-1.jp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ADOR-NUTRICIONAL/a96ed778-d9a0-529f-839e-2754e2e9a779/scratchpad/imgs/assets/cover_b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1051560"/>
            <a:ext cx="12188952" cy="4709160"/>
          </a:xfrm>
          <a:prstGeom prst="rect">
            <a:avLst/>
          </a:prstGeom>
          <a:solidFill>
            <a:srgbClr val="05070A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22960" y="13716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DE CONSULTORES DE REVENDA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22960" y="178308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2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Estudos de Eficácia da Linha GRAPBees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822960" y="3154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BIOSTAT  ·  BEESECT  ·  BEESTRIC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822960" y="3703320"/>
            <a:ext cx="7863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Bionematicida · Bioinseticida · Biofungicida — resultados de campo, argumento técnico e argumento comercial para os 3 canais de vendas Agrocete.</a:t>
            </a:r>
            <a:endParaRPr lang="en-US" sz="1350" dirty="0"/>
          </a:p>
        </p:txBody>
      </p:sp>
      <p:pic>
        <p:nvPicPr>
          <p:cNvPr id="9" name="Image 1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623560"/>
            <a:ext cx="1051560" cy="5943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965960" y="574243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#AGRO desde as Raízes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 GRAPBees de biocontrole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15568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tecnologias, um raciocínio agronômico único: proteger a raiz para depois proteger a parte aérea.</a:t>
            </a:r>
            <a:endParaRPr lang="en-US" sz="1400" dirty="0"/>
          </a:p>
        </p:txBody>
      </p:sp>
      <p:pic>
        <p:nvPicPr>
          <p:cNvPr id="4" name="Image 0" descr="/tmp/claude-0/-home-user-COMPARADOR-NUTRICIONAL/a96ed778-d9a0-529f-839e-2754e2e9a779/scratchpad/imgs/assets/bee_wheat_ar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0080" y="1874520"/>
            <a:ext cx="3520440" cy="1874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3520440" cy="18745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3749040"/>
            <a:ext cx="3520440" cy="224028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2926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BIOSTAT</a:t>
            </a:r>
            <a:endParaRPr lang="en-US" sz="2700" dirty="0"/>
          </a:p>
        </p:txBody>
      </p:sp>
      <p:sp>
        <p:nvSpPr>
          <p:cNvPr id="8" name="Shape 5"/>
          <p:cNvSpPr/>
          <p:nvPr/>
        </p:nvSpPr>
        <p:spPr>
          <a:xfrm>
            <a:off x="868680" y="3886200"/>
            <a:ext cx="1554480" cy="310896"/>
          </a:xfrm>
          <a:prstGeom prst="rect">
            <a:avLst/>
          </a:prstGeom>
          <a:solidFill>
            <a:srgbClr val="01528A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3886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BIONEMATICIDA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68680" y="43891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Fungo — Purpureocillium lilacinum, cepa PL11</a:t>
            </a:r>
            <a:endParaRPr lang="en-US" sz="1250" dirty="0"/>
          </a:p>
        </p:txBody>
      </p:sp>
      <p:pic>
        <p:nvPicPr>
          <p:cNvPr id="11" name="Image 1" descr="/tmp/claude-0/-home-user-COMPARADOR-NUTRICIONAL/a96ed778-d9a0-529f-839e-2754e2e9a779/scratchpad/imgs/assets/bee_larvae_art.jp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80560" y="1874520"/>
            <a:ext cx="3520440" cy="187452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80560" y="1874520"/>
            <a:ext cx="3520440" cy="18745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4480560" y="3749040"/>
            <a:ext cx="3520440" cy="224028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14" name="Text 10"/>
          <p:cNvSpPr/>
          <p:nvPr/>
        </p:nvSpPr>
        <p:spPr>
          <a:xfrm>
            <a:off x="4709160" y="2926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BEESECT</a:t>
            </a:r>
            <a:endParaRPr lang="en-US" sz="2700" dirty="0"/>
          </a:p>
        </p:txBody>
      </p:sp>
      <p:sp>
        <p:nvSpPr>
          <p:cNvPr id="15" name="Shape 11"/>
          <p:cNvSpPr/>
          <p:nvPr/>
        </p:nvSpPr>
        <p:spPr>
          <a:xfrm>
            <a:off x="4709160" y="3886200"/>
            <a:ext cx="1554480" cy="310896"/>
          </a:xfrm>
          <a:prstGeom prst="rect">
            <a:avLst/>
          </a:prstGeom>
          <a:solidFill>
            <a:srgbClr val="17993F"/>
          </a:solidFill>
          <a:ln/>
        </p:spPr>
      </p:sp>
      <p:sp>
        <p:nvSpPr>
          <p:cNvPr id="16" name="Text 12"/>
          <p:cNvSpPr/>
          <p:nvPr/>
        </p:nvSpPr>
        <p:spPr>
          <a:xfrm>
            <a:off x="4709160" y="3886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BIOINSETICIDA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709160" y="43891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Bactéria — Bacillus thuringiensis, cepas CCTB22, CCTB23 e CCTB25</a:t>
            </a:r>
            <a:endParaRPr lang="en-US" sz="1250" dirty="0"/>
          </a:p>
        </p:txBody>
      </p:sp>
      <p:pic>
        <p:nvPicPr>
          <p:cNvPr id="18" name="Image 2" descr="/tmp/claude-0/-home-user-COMPARADOR-NUTRICIONAL/a96ed778-d9a0-529f-839e-2754e2e9a779/scratchpad/imgs/assets/bee_wheat_ar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21040" y="1874520"/>
            <a:ext cx="3520440" cy="1874520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8321040" y="1874520"/>
            <a:ext cx="3520440" cy="1874520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8321040" y="3749040"/>
            <a:ext cx="3520440" cy="224028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21" name="Text 16"/>
          <p:cNvSpPr/>
          <p:nvPr/>
        </p:nvSpPr>
        <p:spPr>
          <a:xfrm>
            <a:off x="8549640" y="292608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BEESTRIC</a:t>
            </a:r>
            <a:endParaRPr lang="en-US" sz="2700" dirty="0"/>
          </a:p>
        </p:txBody>
      </p:sp>
      <p:sp>
        <p:nvSpPr>
          <p:cNvPr id="22" name="Shape 17"/>
          <p:cNvSpPr/>
          <p:nvPr/>
        </p:nvSpPr>
        <p:spPr>
          <a:xfrm>
            <a:off x="8549640" y="3886200"/>
            <a:ext cx="1554480" cy="310896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23" name="Text 18"/>
          <p:cNvSpPr/>
          <p:nvPr/>
        </p:nvSpPr>
        <p:spPr>
          <a:xfrm>
            <a:off x="8549640" y="3886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BIOFUNGICIDA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8549640" y="4389120"/>
            <a:ext cx="3063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Fungo — Trichoderma harzianum, isolado IBLF006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40080" y="614476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Sequenciamento fisiológico: raiz (BIOSTAT/BEESTRIC) → parte aérea (BEESECT), em qualquer cultura e canal de venda.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GRAPBees</a:t>
            </a:r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BIOSTAT · BEESECT · BEESTRIC</a:t>
            </a:r>
            <a:endParaRPr lang="en-US" sz="900" dirty="0"/>
          </a:p>
        </p:txBody>
      </p:sp>
      <p:pic>
        <p:nvPicPr>
          <p:cNvPr id="27" name="Image 3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09960" y="6419088"/>
            <a:ext cx="566928" cy="32004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/tmp/claude-0/-home-user-COMPARADOR-NUTRICIONAL/a96ed778-d9a0-529f-839e-2754e2e9a779/scratchpad/imgs/assets/bee_wheat_ar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706831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1234440"/>
            <a:ext cx="502920" cy="502920"/>
          </a:xfrm>
          <a:prstGeom prst="hexagon">
            <a:avLst/>
          </a:prstGeom>
          <a:solidFill>
            <a:srgbClr val="01528A"/>
          </a:solidFill>
          <a:ln/>
        </p:spPr>
      </p:sp>
      <p:sp>
        <p:nvSpPr>
          <p:cNvPr id="6" name="Shape 3"/>
          <p:cNvSpPr/>
          <p:nvPr/>
        </p:nvSpPr>
        <p:spPr>
          <a:xfrm>
            <a:off x="1115568" y="1005840"/>
            <a:ext cx="365760" cy="365760"/>
          </a:xfrm>
          <a:prstGeom prst="hexagon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21284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BIOSTAT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85800" y="2907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15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Bionematicida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3520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/ TECNOLOGIA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3776472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Fungo Purpureocillium lilacinum, cepa PL11 — 1×10¹⁰ esporos viáveis/g, formulação Pó Molhável (WP).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4800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 BIOLÓGICO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5056632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Meloidogyne incognita e M. javanica (nematoide-das-galhas). Modo de ação: parasitismo de ovos, juvenis e adultos (ovicida), antibiose e indução de resistência.</a:t>
            </a:r>
            <a:endParaRPr lang="en-US" sz="1200" dirty="0"/>
          </a:p>
        </p:txBody>
      </p:sp>
      <p:pic>
        <p:nvPicPr>
          <p:cNvPr id="14" name="Image 1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63640"/>
            <a:ext cx="73152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6336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#AGRO desde as Raízes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solidFill>
            <a:srgbClr val="0152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Momento fisiológico de aplicação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no tratamento de sementes (TS) ou sulco de plantio — antes de a raiz encontrar o nematoide.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0"/>
          </a:xfrm>
          <a:prstGeom prst="line">
            <a:avLst/>
          </a:prstGeom>
          <a:noFill/>
          <a:ln w="38100">
            <a:solidFill>
              <a:srgbClr val="D8DE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2340864"/>
            <a:ext cx="256032" cy="256032"/>
          </a:xfrm>
          <a:prstGeom prst="ellipse">
            <a:avLst/>
          </a:prstGeom>
          <a:solidFill>
            <a:srgbClr val="01528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4572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6654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2102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7550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2998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8446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3894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139342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3564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3375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C99A3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3611880"/>
            <a:ext cx="457200" cy="457200"/>
          </a:xfrm>
          <a:prstGeom prst="hexagon">
            <a:avLst/>
          </a:prstGeom>
          <a:solidFill>
            <a:srgbClr val="01528A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206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Nematoide ataca desde a germinação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14400" y="46634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nematoide-das-galhas parasita a raiz em praticamente todo o ciclo, com maior dano quando a planta ainda não formou sistema radicular robusto.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89120" y="33375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C99A3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611880"/>
            <a:ext cx="457200" cy="457200"/>
          </a:xfrm>
          <a:prstGeom prst="hexagon">
            <a:avLst/>
          </a:prstGeom>
          <a:solidFill>
            <a:srgbClr val="01528A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3440" y="4206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Janela de aplicação: semente e sulco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4663440" y="46634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Tratamento de sementes (100 a 125 g/100 kg) ou sulco de plantio (150 a 200 g/ha) — o fungo já está posicionado na rizosfera antes do ataque.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38160" y="33375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C99A3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12480" y="3611880"/>
            <a:ext cx="457200" cy="457200"/>
          </a:xfrm>
          <a:prstGeom prst="hexagon">
            <a:avLst/>
          </a:prstGeom>
          <a:solidFill>
            <a:srgbClr val="01528A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2480" y="4206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Protege a raiz para sustentar tudo depois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412480" y="46634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raiz sadia, não há resposta de nenhum outro insumo. BIOSTAT é o primeiro elo da lógica de sequenciamento fisiológico Agrocete.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GRAPBees</a:t>
            </a:r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BIOSTAT · BEESECT · BEESTRIC</a:t>
            </a:r>
            <a:endParaRPr lang="en-US" sz="900" dirty="0"/>
          </a:p>
        </p:txBody>
      </p:sp>
      <p:pic>
        <p:nvPicPr>
          <p:cNvPr id="39" name="Image 0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6419088"/>
            <a:ext cx="566928" cy="32004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solidFill>
            <a:srgbClr val="0152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estudo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Meloidogyne incognita na cultura da soja, cultivar BMX Zeus IPRO — Ponta Grossa/PR, safra 2023/2024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0152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eficiência e a praticabilidade agronômica do BIOSTAT no controle do nematoide-das-galhas (Meloidogyne incognita) e seu efeito sobre fitotoxicidade e produtividade da soja, em casa de vegetação.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Cultura: soja (Glycine max), cv. BMX Zeus IPRO. Local: Ponta Grossa/PR. Tratamentos: Testemunha, BIOSTAT e um concorrente comercial. Avaliação: 30 e 60 dias após infestação.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26280" y="2103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Nematoides J2+ovos no solo (100 cm³) — 60 dias após infestação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26280" y="2514600"/>
            <a:ext cx="2164080" cy="1600200"/>
          </a:xfrm>
          <a:prstGeom prst="roundRect">
            <a:avLst>
              <a:gd name="adj" fmla="val 4571"/>
            </a:avLst>
          </a:prstGeom>
          <a:solidFill>
            <a:srgbClr val="F7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606040"/>
            <a:ext cx="188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1.538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3364992"/>
            <a:ext cx="188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Testemunha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(sem controle)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64680" y="2514600"/>
            <a:ext cx="2164080" cy="1600200"/>
          </a:xfrm>
          <a:prstGeom prst="roundRect">
            <a:avLst>
              <a:gd name="adj" fmla="val 4571"/>
            </a:avLst>
          </a:prstGeom>
          <a:solidFill>
            <a:srgbClr val="F7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7101840" y="2606040"/>
            <a:ext cx="188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101840" y="3364992"/>
            <a:ext cx="188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−38% vs. testemunha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03080" y="2514600"/>
            <a:ext cx="2164080" cy="1600200"/>
          </a:xfrm>
          <a:prstGeom prst="roundRect">
            <a:avLst>
              <a:gd name="adj" fmla="val 4571"/>
            </a:avLst>
          </a:prstGeom>
          <a:solidFill>
            <a:srgbClr val="F7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9540240" y="2606040"/>
            <a:ext cx="188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1.069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540240" y="3364992"/>
            <a:ext cx="188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4251960"/>
            <a:ext cx="7040880" cy="1234440"/>
          </a:xfrm>
          <a:prstGeom prst="roundRect">
            <a:avLst>
              <a:gd name="adj" fmla="val 5926"/>
            </a:avLst>
          </a:prstGeom>
          <a:solidFill>
            <a:srgbClr val="FFF6E9"/>
          </a:solidFill>
          <a:ln w="12700">
            <a:solidFill>
              <a:srgbClr val="0152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3891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15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6634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 apresentou controle eficaz nas raízes sobre o nematoide-das-galhas, superando o concorrente comercial e podendo ser recomendado para o manejo de nematoides na soja.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56235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P&amp;D Agrocete / 3M Fitotecnia e Nematologia. Ponta Grossa/PR, safra 2023/2024.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GRAPBees</a:t>
            </a:r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BIOSTAT · BEESECT · BEESTRIC</a:t>
            </a:r>
            <a:endParaRPr lang="en-US" sz="900" dirty="0"/>
          </a:p>
        </p:txBody>
      </p:sp>
      <p:pic>
        <p:nvPicPr>
          <p:cNvPr id="26" name="Image 0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6419088"/>
            <a:ext cx="566928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solidFill>
            <a:srgbClr val="01528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estudo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agronômica do BIOSTAT WP em produtividade — soja e cana-de-açúcar (variedade RB966928)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0152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em campo o ganho de produtividade associado ao controle de nematoides de galhas pelo BIOSTAT, comparando com testemunha e concorrente comercial.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Soja: cultivar BMX Zeus IPRO. Cana-de-açúcar: variedade RB966928. Produtividade avaliada em kg/ha ao final do ciclo, três tratamentos (Testemunha, BIOSTAT, Concorrente).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26280" y="2103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Produtividade (kg/ha)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26280" y="2514600"/>
            <a:ext cx="2164080" cy="1600200"/>
          </a:xfrm>
          <a:prstGeom prst="roundRect">
            <a:avLst>
              <a:gd name="adj" fmla="val 4571"/>
            </a:avLst>
          </a:prstGeom>
          <a:solidFill>
            <a:srgbClr val="F7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606040"/>
            <a:ext cx="188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2.739,3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663440" y="3364992"/>
            <a:ext cx="188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Soja — BIOSTAT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+5,6 sacos vs. testemunha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64680" y="2514600"/>
            <a:ext cx="2164080" cy="1600200"/>
          </a:xfrm>
          <a:prstGeom prst="roundRect">
            <a:avLst>
              <a:gd name="adj" fmla="val 4571"/>
            </a:avLst>
          </a:prstGeom>
          <a:solidFill>
            <a:srgbClr val="F7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7101840" y="2606040"/>
            <a:ext cx="188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5.340,1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101840" y="3364992"/>
            <a:ext cx="188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Cana-de-açúcar — BIOSTAT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+279 kg/ha vs. testemunha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03080" y="2514600"/>
            <a:ext cx="2164080" cy="1600200"/>
          </a:xfrm>
          <a:prstGeom prst="roundRect">
            <a:avLst>
              <a:gd name="adj" fmla="val 4571"/>
            </a:avLst>
          </a:prstGeom>
          <a:solidFill>
            <a:srgbClr val="F7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9540240" y="2606040"/>
            <a:ext cx="188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2.451,2 / 5.312,1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540240" y="3364992"/>
            <a:ext cx="188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Concorrente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(soja / cana)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4251960"/>
            <a:ext cx="7040880" cy="1234440"/>
          </a:xfrm>
          <a:prstGeom prst="roundRect">
            <a:avLst>
              <a:gd name="adj" fmla="val 5926"/>
            </a:avLst>
          </a:prstGeom>
          <a:solidFill>
            <a:srgbClr val="FFF6E9"/>
          </a:solidFill>
          <a:ln w="12700">
            <a:solidFill>
              <a:srgbClr val="0152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3891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15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6634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duas culturas, BIOSTAT superou tanto a testemunha quanto o concorrente comercial em produtividade — o controle de nematoides converteu-se em ganho real de saca e de tonelagem.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56235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P&amp;D Agrocete / 3M Fitotecnia e Nematologia, 2023/2024.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GRAPBees</a:t>
            </a:r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BIOSTAT · BEESECT · BEESTRIC</a:t>
            </a:r>
            <a:endParaRPr lang="en-US" sz="900" dirty="0"/>
          </a:p>
        </p:txBody>
      </p:sp>
      <p:pic>
        <p:nvPicPr>
          <p:cNvPr id="26" name="Image 0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6419088"/>
            <a:ext cx="566928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solidFill>
            <a:srgbClr val="0152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Argumento comercial para o consultor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campo — sem jargão técnico excessivo.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01528A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“Onde a lavoura perde produtividade sem explicação visível na parte aérea, o problema costuma estar embaixo da terra. BIOSTAT protege a raiz desde a semente — e raiz protegida é a base de toda a safra.”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035040" y="2363724"/>
            <a:ext cx="438912" cy="438912"/>
          </a:xfrm>
          <a:prstGeom prst="hexagon">
            <a:avLst/>
          </a:prstGeom>
          <a:solidFill>
            <a:srgbClr val="01528A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3637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1762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Mostre o invisível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Nematoide não se vê a olho nu. Use os dados de reboleiras e queda de produtividade para justificar a análise de solo antes da próxima semeadura.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323844"/>
            <a:ext cx="438912" cy="438912"/>
          </a:xfrm>
          <a:prstGeom prst="hexagon">
            <a:avLst/>
          </a:prstGeom>
          <a:solidFill>
            <a:srgbClr val="01528A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3238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31363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Custo-benefício no TS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75120" y="3520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já no tratamento de sementes (100–125 g/100 kg) — sem custo extra de operação, entra junto do pacote de tratamento já feito na propriedade.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4283964"/>
            <a:ext cx="438912" cy="438912"/>
          </a:xfrm>
          <a:prstGeom prst="hexagon">
            <a:avLst/>
          </a:prstGeom>
          <a:solidFill>
            <a:srgbClr val="01528A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42839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40965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de campo, não promessa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75120" y="4480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ensaio Ponta Grossa/PR, BIOSTAT reduziu a população de nematoides nas raízes e superou o concorrente comercial na mesma condição.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5244084"/>
            <a:ext cx="438912" cy="438912"/>
          </a:xfrm>
          <a:prstGeom prst="hexagon">
            <a:avLst/>
          </a:prstGeom>
          <a:solidFill>
            <a:srgbClr val="01528A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52440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50566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 em saca e tonelada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675120" y="54406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de +5,6 sacos/ha em soja e +279 kg/ha em cana — fale a língua que o produtor mede: o resultado no fim da colheita.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GRAPBees</a:t>
            </a:r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BIOSTAT · BEESECT · BEESTRIC</a:t>
            </a:r>
            <a:endParaRPr lang="en-US" sz="900" dirty="0"/>
          </a:p>
        </p:txBody>
      </p:sp>
      <p:pic>
        <p:nvPicPr>
          <p:cNvPr id="27" name="Image 0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6419088"/>
            <a:ext cx="566928" cy="320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1874520" cy="384048"/>
          </a:xfrm>
          <a:prstGeom prst="rect">
            <a:avLst/>
          </a:prstGeom>
          <a:solidFill>
            <a:srgbClr val="01528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BIOSTAT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de ação à venda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visual do bloco — encerramento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578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15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AÇÃO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4380" y="2738628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0152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" y="27386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Parasitismo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(ovicida)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4380" y="377190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0152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" y="37719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Antibiose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rizosfera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4380" y="4805172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0152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" y="48051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Indução de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resistência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80460" y="3886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5770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15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AGRONÔMICO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86300" y="2738628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0152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3460" y="27386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−38% de nematoides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raízes (60 DAI)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86300" y="377190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0152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3460" y="37719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+5,6 sacos/ha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soja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686300" y="4805172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01528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23460" y="48051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+279 kg/ha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cana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612380" y="3886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38962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DE VENDA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18220" y="3255264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55380" y="3255264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“Protege a raiz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a semente”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18220" y="4288536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55380" y="4288536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custo extra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TS</a:t>
            </a:r>
            <a:endParaRPr lang="en-US" sz="1150" dirty="0"/>
          </a:p>
        </p:txBody>
      </p:sp>
      <p:pic>
        <p:nvPicPr>
          <p:cNvPr id="28" name="Image 0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63640"/>
            <a:ext cx="685800" cy="384048"/>
          </a:xfrm>
          <a:prstGeom prst="rect">
            <a:avLst/>
          </a:prstGeom>
        </p:spPr>
      </p:pic>
      <p:sp>
        <p:nvSpPr>
          <p:cNvPr id="29" name="Text 26"/>
          <p:cNvSpPr/>
          <p:nvPr/>
        </p:nvSpPr>
        <p:spPr>
          <a:xfrm>
            <a:off x="1371600" y="6327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#AGRO desde as Raízes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/tmp/claude-0/-home-user-COMPARADOR-NUTRICIONAL/a96ed778-d9a0-529f-839e-2754e2e9a779/scratchpad/imgs/assets/bee_larvae_ar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706831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1234440"/>
            <a:ext cx="502920" cy="502920"/>
          </a:xfrm>
          <a:prstGeom prst="hexagon">
            <a:avLst/>
          </a:prstGeom>
          <a:solidFill>
            <a:srgbClr val="17993F"/>
          </a:solidFill>
          <a:ln/>
        </p:spPr>
      </p:sp>
      <p:sp>
        <p:nvSpPr>
          <p:cNvPr id="6" name="Shape 3"/>
          <p:cNvSpPr/>
          <p:nvPr/>
        </p:nvSpPr>
        <p:spPr>
          <a:xfrm>
            <a:off x="1115568" y="1005840"/>
            <a:ext cx="365760" cy="365760"/>
          </a:xfrm>
          <a:prstGeom prst="hexagon">
            <a:avLst/>
          </a:prstGeom>
          <a:solidFill>
            <a:srgbClr val="E8A33D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21284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BEESECT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85800" y="2907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9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Bioinseticida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3520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/ TECNOLOGIA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3776472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Bactéria Bacillus thuringiensis, três cepas (CCTB22, CCTB23 e CCTB25) — 5,52×10⁹ endósporos viáveis/mL, Suspensão Concentrada (SC).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4800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ALVOS PRINCIPAIS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5056632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Lagarta-do-cartucho, lagarta Helicoverpa armigera, lagarta falsa-medideira, bicho-furão, traça-das-crucíferas e lagarta-do-trigo. Modo de ação multissítio (proteínas Cry/Vip/Cyt).</a:t>
            </a:r>
            <a:endParaRPr lang="en-US" sz="1200" dirty="0"/>
          </a:p>
        </p:txBody>
      </p:sp>
      <p:pic>
        <p:nvPicPr>
          <p:cNvPr id="14" name="Image 1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63640"/>
            <a:ext cx="73152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6336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#AGRO desde as Raízes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solidFill>
            <a:srgbClr val="179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Momento fisiológico de aplicação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foliar em qualquer estádio (V3 a R5.3) — sempre que houver lagarta na folha.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0"/>
          </a:xfrm>
          <a:prstGeom prst="line">
            <a:avLst/>
          </a:prstGeom>
          <a:noFill/>
          <a:ln w="38100">
            <a:solidFill>
              <a:srgbClr val="D8DE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4572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06654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62102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175504" y="2340864"/>
            <a:ext cx="256032" cy="256032"/>
          </a:xfrm>
          <a:prstGeom prst="ellipse">
            <a:avLst/>
          </a:prstGeom>
          <a:solidFill>
            <a:srgbClr val="17993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2998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8446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2668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83894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8116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1139342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83564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R5.3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33375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C99A3">
                <a:alpha val="2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14400" y="3611880"/>
            <a:ext cx="457200" cy="457200"/>
          </a:xfrm>
          <a:prstGeom prst="hexagon">
            <a:avLst/>
          </a:prstGeom>
          <a:solidFill>
            <a:srgbClr val="17993F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206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Lagarta ataca a folha que sustenta o grão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14400" y="46634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vegetativo ao reprodutivo, cada folha perdida é fotossíntese perdida — e nível de dano econômico chega rápido em anos de pressão alta.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389120" y="33375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C99A3">
                <a:alpha val="2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663440" y="3611880"/>
            <a:ext cx="457200" cy="457200"/>
          </a:xfrm>
          <a:prstGeom prst="hexagon">
            <a:avLst/>
          </a:prstGeom>
          <a:solidFill>
            <a:srgbClr val="17993F"/>
          </a:solidFill>
          <a:ln/>
        </p:spPr>
      </p:sp>
      <p:sp>
        <p:nvSpPr>
          <p:cNvPr id="30" name="Text 28"/>
          <p:cNvSpPr/>
          <p:nvPr/>
        </p:nvSpPr>
        <p:spPr>
          <a:xfrm>
            <a:off x="46634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663440" y="4206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Aplicação em qualquer fase do ciclo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4663440" y="46634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BEESECT pode entrar junto do inseticida químico em qualquer janela — reforça o manejo de resistência sem trocar a rotina de pulverização.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138160" y="33375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C99A3">
                <a:alpha val="2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8412480" y="3611880"/>
            <a:ext cx="457200" cy="457200"/>
          </a:xfrm>
          <a:prstGeom prst="hexagon">
            <a:avLst/>
          </a:prstGeom>
          <a:solidFill>
            <a:srgbClr val="17993F"/>
          </a:solidFill>
          <a:ln/>
        </p:spPr>
      </p:sp>
      <p:sp>
        <p:nvSpPr>
          <p:cNvPr id="35" name="Text 33"/>
          <p:cNvSpPr/>
          <p:nvPr/>
        </p:nvSpPr>
        <p:spPr>
          <a:xfrm>
            <a:off x="84124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8412480" y="4206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Parceiro do químico, não substituto isolado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412480" y="46634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 desempenho em programa MIP: biológico + químico prolonga a janela de controle e retarda a seleção de lagartas resistentes.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GRAPBees</a:t>
            </a:r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BIOSTAT · BEESECT · BEESTRIC</a:t>
            </a:r>
            <a:endParaRPr lang="en-US" sz="900" dirty="0"/>
          </a:p>
        </p:txBody>
      </p:sp>
      <p:pic>
        <p:nvPicPr>
          <p:cNvPr id="39" name="Image 0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6419088"/>
            <a:ext cx="566928" cy="32004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solidFill>
            <a:srgbClr val="17993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estudo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Chrysodeixis includens em soja, cultivar Monsoy 5917 — Itapeva/SP, 2024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0152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9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eficiência do controle biológico (BEESECT), associado ou não ao controle químico (Clorfenapir), sobre C. includens e seus reflexos nos parâmetros fitotécnicos da soja. Dose BEESECT: 0,5 L/ha.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9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Cultura: soja cv. Monsoy 5917. Tratamentos: T1 Controle, T2 BEESECT, T3 Clorfenapir, T4 BEESECT+Clorfenapir, T5 BEESECT+Clorfenapir+GRAP D-Lim. Avaliação aos 15 dias após aplicação (DAP).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26280" y="2103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de controle (%) — 15 dias após a aplicação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26280" y="2514600"/>
            <a:ext cx="2164080" cy="1600200"/>
          </a:xfrm>
          <a:prstGeom prst="roundRect">
            <a:avLst>
              <a:gd name="adj" fmla="val 4571"/>
            </a:avLst>
          </a:prstGeom>
          <a:solidFill>
            <a:srgbClr val="F7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606040"/>
            <a:ext cx="188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9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32,3%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3364992"/>
            <a:ext cx="188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BEESECT isolado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(T2)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64680" y="2514600"/>
            <a:ext cx="2164080" cy="1600200"/>
          </a:xfrm>
          <a:prstGeom prst="roundRect">
            <a:avLst>
              <a:gd name="adj" fmla="val 4571"/>
            </a:avLst>
          </a:prstGeom>
          <a:solidFill>
            <a:srgbClr val="F7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7101840" y="2606040"/>
            <a:ext cx="188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79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88,7%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101840" y="3364992"/>
            <a:ext cx="188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BEESECT + Clorfenapir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(T4)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03080" y="2514600"/>
            <a:ext cx="2164080" cy="1600200"/>
          </a:xfrm>
          <a:prstGeom prst="roundRect">
            <a:avLst>
              <a:gd name="adj" fmla="val 4571"/>
            </a:avLst>
          </a:prstGeom>
          <a:solidFill>
            <a:srgbClr val="F7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9540240" y="2606040"/>
            <a:ext cx="188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799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43,6%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540240" y="3364992"/>
            <a:ext cx="188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Clorfenapir isolado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(T3)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4251960"/>
            <a:ext cx="7040880" cy="1234440"/>
          </a:xfrm>
          <a:prstGeom prst="roundRect">
            <a:avLst>
              <a:gd name="adj" fmla="val 5926"/>
            </a:avLst>
          </a:prstGeom>
          <a:solidFill>
            <a:srgbClr val="FFF6E9"/>
          </a:solidFill>
          <a:ln w="12700">
            <a:solidFill>
              <a:srgbClr val="17993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3891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79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6634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combinação BEESECT + Clorfenapir (T4) praticamente dobrou a eficiência do químico isolado (88,7% vs. 43,6%) e elevou a produtividade para 4.321,86 kg/ha, frente a 3.273,24 kg/ha na testemunha.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56235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Resultados de Pesquisa Agrocete. Itapeva/SP, 2024.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GRAPBees</a:t>
            </a:r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BIOSTAT · BEESECT · BEESTRIC</a:t>
            </a:r>
            <a:endParaRPr lang="en-US" sz="900" dirty="0"/>
          </a:p>
        </p:txBody>
      </p:sp>
      <p:pic>
        <p:nvPicPr>
          <p:cNvPr id="26" name="Image 0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6419088"/>
            <a:ext cx="566928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solidFill>
            <a:srgbClr val="179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Argumento comercial para o consultor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campo — sem jargão técnico excessivo.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1799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“Não é trocar o químico por biológico — é fazer os dois trabalharem juntos. Com BEESECT no tanque, o produtor estica a vida útil do inseticida que ele já confia.”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035040" y="2363724"/>
            <a:ext cx="438912" cy="438912"/>
          </a:xfrm>
          <a:prstGeom prst="hexagon">
            <a:avLst/>
          </a:prstGeom>
          <a:solidFill>
            <a:srgbClr val="17993F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3637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1762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Fale em manejo de resistência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modos de ação (Cry/Vip/Cyt) em uma cepa tríplice — argumento técnico forte contra a seleção de lagartas resistentes ao químico.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323844"/>
            <a:ext cx="438912" cy="438912"/>
          </a:xfrm>
          <a:prstGeom prst="hexagon">
            <a:avLst/>
          </a:prstGeom>
          <a:solidFill>
            <a:srgbClr val="17993F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3238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31363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Mostre o número que dobra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75120" y="3520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88,7% de eficiência com BEESECT + Clorfenapir contra 43,6% do químico sozinho — o produtor sente na contagem de lagarta viva.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4283964"/>
            <a:ext cx="438912" cy="438912"/>
          </a:xfrm>
          <a:prstGeom prst="hexagon">
            <a:avLst/>
          </a:prstGeom>
          <a:solidFill>
            <a:srgbClr val="17993F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42839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40965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mudar a rotina de aplicação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75120" y="4480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 na mesma pulverização do inseticida, em qualquer estádio (V3 a R5.3) — não exige nova janela nem novo maquinário.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5244084"/>
            <a:ext cx="438912" cy="438912"/>
          </a:xfrm>
          <a:prstGeom prst="hexagon">
            <a:avLst/>
          </a:prstGeom>
          <a:solidFill>
            <a:srgbClr val="17993F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52440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50566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Produtividade fecha a conta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675120" y="54406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4.321,86 kg/ha no tratamento combinado vs. 3.273,24 kg/ha na testemunha — ganho que paga a dose adicional no talão.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GRAPBees</a:t>
            </a:r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BIOSTAT · BEESECT · BEESTRIC</a:t>
            </a:r>
            <a:endParaRPr lang="en-US" sz="900" dirty="0"/>
          </a:p>
        </p:txBody>
      </p:sp>
      <p:pic>
        <p:nvPicPr>
          <p:cNvPr id="27" name="Image 0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6419088"/>
            <a:ext cx="566928" cy="320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1874520" cy="384048"/>
          </a:xfrm>
          <a:prstGeom prst="rect">
            <a:avLst/>
          </a:prstGeom>
          <a:solidFill>
            <a:srgbClr val="17993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de ação à venda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visual do bloco — encerramento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578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15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AÇÃO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4380" y="2738628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0152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" y="27386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Endotoxinas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Cry / Vip / Cyt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4380" y="377190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0152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" y="37719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Parada alimentar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horas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4380" y="4805172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0152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" y="48051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modos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ação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80460" y="3886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5770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1799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AGRONÔMICO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86300" y="3255264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17993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3460" y="3255264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88,7% de eficiência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(BEESECT+químico)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86300" y="4288536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1799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3460" y="4288536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+1.048 kg/ha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testemunha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12380" y="3886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8962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DE VENDA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18220" y="3255264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5380" y="3255264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“Os dois juntos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rendem mais”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18220" y="4288536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55380" y="4288536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Reforça o manejo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resistência</a:t>
            </a:r>
            <a:endParaRPr lang="en-US" sz="1150" dirty="0"/>
          </a:p>
        </p:txBody>
      </p:sp>
      <p:pic>
        <p:nvPicPr>
          <p:cNvPr id="26" name="Image 0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63640"/>
            <a:ext cx="685800" cy="38404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71600" y="6327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#AGRO desde as Raízes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</p:sp>
      <p:pic>
        <p:nvPicPr>
          <p:cNvPr id="3" name="Image 0" descr="/tmp/claude-0/-home-user-COMPARADOR-NUTRICIONAL/a96ed778-d9a0-529f-839e-2754e2e9a779/scratchpad/imgs/assets/bee_wheat_art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120640" y="0"/>
            <a:ext cx="7068312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5120640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2"/>
          <p:cNvSpPr/>
          <p:nvPr/>
        </p:nvSpPr>
        <p:spPr>
          <a:xfrm>
            <a:off x="685800" y="1234440"/>
            <a:ext cx="502920" cy="502920"/>
          </a:xfrm>
          <a:prstGeom prst="hexagon">
            <a:avLst/>
          </a:prstGeom>
          <a:solidFill>
            <a:srgbClr val="E8A33D"/>
          </a:solidFill>
          <a:ln/>
        </p:spPr>
      </p:sp>
      <p:sp>
        <p:nvSpPr>
          <p:cNvPr id="6" name="Shape 3"/>
          <p:cNvSpPr/>
          <p:nvPr/>
        </p:nvSpPr>
        <p:spPr>
          <a:xfrm>
            <a:off x="1115568" y="1005840"/>
            <a:ext cx="365760" cy="365760"/>
          </a:xfrm>
          <a:prstGeom prst="hexagon">
            <a:avLst/>
          </a:prstGeom>
          <a:solidFill>
            <a:srgbClr val="17993F"/>
          </a:solidFill>
          <a:ln/>
        </p:spPr>
      </p:sp>
      <p:sp>
        <p:nvSpPr>
          <p:cNvPr id="7" name="Text 4"/>
          <p:cNvSpPr/>
          <p:nvPr/>
        </p:nvSpPr>
        <p:spPr>
          <a:xfrm>
            <a:off x="685800" y="18745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85800" y="2212848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BEESTRIC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85800" y="2907792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Biofungicida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85800" y="35204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COMPOSIÇÃO / TECNOLOGIA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85800" y="3776472"/>
            <a:ext cx="40690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Fungo Trichoderma harzianum, isolado IBLF006 — 1×10¹⁰ UFC/g, 300 g/kg (30%) de ativo, Pó Molhável (WP). Shelf life de 11 meses.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85800" y="48006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9AA7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ALVOS REGISTRADOS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85800" y="5056632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Mofo branco (Sclerotinia sclerotiorum), Rizoctonia (Rhizoctonia solani), Macrophomina (Macrophomina phaseolina) e nematoide das lesões (Pratylenchus zeae).</a:t>
            </a:r>
            <a:endParaRPr lang="en-US" sz="1200" dirty="0"/>
          </a:p>
        </p:txBody>
      </p:sp>
      <p:pic>
        <p:nvPicPr>
          <p:cNvPr id="14" name="Image 1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6263640"/>
            <a:ext cx="73152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508760" y="63367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#AGRO desde as Raízes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BEESTRIC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Momento fisiológico de aplicação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no TS (50 g/100 kg) com reforço entre V4 e V6 ou pós-colheita — coloniza o solo antes da doença.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10881360" cy="0"/>
          </a:xfrm>
          <a:prstGeom prst="line">
            <a:avLst/>
          </a:prstGeom>
          <a:noFill/>
          <a:ln w="38100">
            <a:solidFill>
              <a:srgbClr val="D8DEE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12064" y="2340864"/>
            <a:ext cx="256032" cy="25603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-4572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32562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6784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39184" y="2340864"/>
            <a:ext cx="256032" cy="256032"/>
          </a:xfrm>
          <a:prstGeom prst="ellipse">
            <a:avLst/>
          </a:prstGeom>
          <a:solidFill>
            <a:srgbClr val="E8A3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140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95274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76630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0852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V6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57986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2208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11393424" y="2340864"/>
            <a:ext cx="256032" cy="256032"/>
          </a:xfrm>
          <a:prstGeom prst="ellipse">
            <a:avLst/>
          </a:prstGeom>
          <a:solidFill>
            <a:srgbClr val="C9D1D6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835640" y="2670048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Pós-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colheita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40080" y="33375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C99A3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914400" y="3611880"/>
            <a:ext cx="457200" cy="457200"/>
          </a:xfrm>
          <a:prstGeom prst="hexagon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4206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Patógenos de solo agem cedo e ficam anos no solo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14400" y="46634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Escleródios de mofo branco sobrevivem até 10 anos no solo; Rizoctonia e Macrophomina reduzem rendimento em até 60–70% se não manejados.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389120" y="33375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C99A3">
                <a:alpha val="2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663440" y="3611880"/>
            <a:ext cx="457200" cy="457200"/>
          </a:xfrm>
          <a:prstGeom prst="hexagon">
            <a:avLst/>
          </a:prstGeom>
          <a:solidFill>
            <a:srgbClr val="E8A33D"/>
          </a:solidFill>
          <a:ln/>
        </p:spPr>
      </p:sp>
      <p:sp>
        <p:nvSpPr>
          <p:cNvPr id="28" name="Text 26"/>
          <p:cNvSpPr/>
          <p:nvPr/>
        </p:nvSpPr>
        <p:spPr>
          <a:xfrm>
            <a:off x="466344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63440" y="4206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Precisa de solo exposto para colonizar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4663440" y="46634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via TS (50 g/100 kg) e reforço entre V4 e V6 — ou pós-colheita — garante colonização da rizosfera antes da pressão de doença.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138160" y="3337560"/>
            <a:ext cx="3429000" cy="2514600"/>
          </a:xfrm>
          <a:prstGeom prst="roundRect">
            <a:avLst>
              <a:gd name="adj" fmla="val 2909"/>
            </a:avLst>
          </a:prstGeom>
          <a:solidFill>
            <a:srgbClr val="F7F9FA"/>
          </a:solidFill>
          <a:ln/>
          <a:effectLst>
            <a:outerShdw sx="100000" sy="100000" kx="0" ky="0" algn="bl" rotWithShape="0" blurRad="76200" dist="25400" dir="5400000">
              <a:srgbClr val="8C99A3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8412480" y="3611880"/>
            <a:ext cx="457200" cy="457200"/>
          </a:xfrm>
          <a:prstGeom prst="hexagon">
            <a:avLst/>
          </a:prstGeom>
          <a:solidFill>
            <a:srgbClr val="E8A33D"/>
          </a:solidFill>
          <a:ln/>
        </p:spPr>
      </p:sp>
      <p:sp>
        <p:nvSpPr>
          <p:cNvPr id="33" name="Text 31"/>
          <p:cNvSpPr/>
          <p:nvPr/>
        </p:nvSpPr>
        <p:spPr>
          <a:xfrm>
            <a:off x="8412480" y="3611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412480" y="420624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Multifuncionalidade além do controle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8412480" y="4663440"/>
            <a:ext cx="2880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Micoparasitismo, competição e antibiose — e ainda estimula desenvolvimento de parte aérea e resistência a estresse biótico/abiótico.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GRAPBees</a:t>
            </a:r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BIOSTAT · BEESECT · BEESTRIC</a:t>
            </a:r>
            <a:endParaRPr lang="en-US" sz="900" dirty="0"/>
          </a:p>
        </p:txBody>
      </p:sp>
      <p:pic>
        <p:nvPicPr>
          <p:cNvPr id="37" name="Image 0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6419088"/>
            <a:ext cx="566928" cy="32004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BEESTRIC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Resumo do estudo</a:t>
            </a:r>
            <a:endParaRPr lang="en-US" sz="2700" dirty="0"/>
          </a:p>
        </p:txBody>
      </p:sp>
      <p:sp>
        <p:nvSpPr>
          <p:cNvPr id="5" name="Text 3"/>
          <p:cNvSpPr/>
          <p:nvPr/>
        </p:nvSpPr>
        <p:spPr>
          <a:xfrm>
            <a:off x="640080" y="1536192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de patógenos de solo e nematoides na cultura da soja, cultivar CZ 37B43 — Montividiu/GO, 2025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2103120"/>
            <a:ext cx="3566160" cy="3794760"/>
          </a:xfrm>
          <a:prstGeom prst="roundRect">
            <a:avLst>
              <a:gd name="adj" fmla="val 2051"/>
            </a:avLst>
          </a:prstGeom>
          <a:solidFill>
            <a:srgbClr val="01528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317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3017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Avaliar a eficiência agronômica dos produtos Agrocete (BIOSTAT e BEESTRIC, isolados e combinados) no manejo de patógenos e nematoides de solo, em diferentes janelas de aplicação (TS e V4/V5).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605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CONDIÇÕES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43484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Cultura: soja cv. CZ 37B43. Local: Montividiu/GO. Responsável técnico: Dr. Weder Nunes Ferreira Junior — Instituto Goiano de Agricultura (IGA). Avaliação aos 45 e 75 dias após emergência (DAE).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26280" y="210312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Eficiência (%) de BEESTRIC (TS) sobre a população de nematoides — 45 DAE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26280" y="2514600"/>
            <a:ext cx="2164080" cy="1600200"/>
          </a:xfrm>
          <a:prstGeom prst="roundRect">
            <a:avLst>
              <a:gd name="adj" fmla="val 4571"/>
            </a:avLst>
          </a:prstGeom>
          <a:solidFill>
            <a:srgbClr val="F7F9FA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2606040"/>
            <a:ext cx="188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26,7%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4663440" y="3364992"/>
            <a:ext cx="188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Pratylenchus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brachyurus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64680" y="2514600"/>
            <a:ext cx="2164080" cy="1600200"/>
          </a:xfrm>
          <a:prstGeom prst="roundRect">
            <a:avLst>
              <a:gd name="adj" fmla="val 4571"/>
            </a:avLst>
          </a:prstGeom>
          <a:solidFill>
            <a:srgbClr val="F7F9FA"/>
          </a:solidFill>
          <a:ln/>
        </p:spPr>
      </p:sp>
      <p:sp>
        <p:nvSpPr>
          <p:cNvPr id="16" name="Text 14"/>
          <p:cNvSpPr/>
          <p:nvPr/>
        </p:nvSpPr>
        <p:spPr>
          <a:xfrm>
            <a:off x="7101840" y="2606040"/>
            <a:ext cx="188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29,5%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7101840" y="3364992"/>
            <a:ext cx="188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Heterodera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glycines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403080" y="2514600"/>
            <a:ext cx="2164080" cy="1600200"/>
          </a:xfrm>
          <a:prstGeom prst="roundRect">
            <a:avLst>
              <a:gd name="adj" fmla="val 4571"/>
            </a:avLst>
          </a:prstGeom>
          <a:solidFill>
            <a:srgbClr val="F7F9FA"/>
          </a:solidFill>
          <a:ln/>
        </p:spPr>
      </p:sp>
      <p:sp>
        <p:nvSpPr>
          <p:cNvPr id="19" name="Text 17"/>
          <p:cNvSpPr/>
          <p:nvPr/>
        </p:nvSpPr>
        <p:spPr>
          <a:xfrm>
            <a:off x="9540240" y="2606040"/>
            <a:ext cx="1889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44,1%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9540240" y="3364992"/>
            <a:ext cx="1889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Helicotylenchus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spp.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26280" y="4251960"/>
            <a:ext cx="7040880" cy="1234440"/>
          </a:xfrm>
          <a:prstGeom prst="roundRect">
            <a:avLst>
              <a:gd name="adj" fmla="val 5926"/>
            </a:avLst>
          </a:prstGeom>
          <a:solidFill>
            <a:srgbClr val="FFF6E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4389120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54880" y="4663440"/>
            <a:ext cx="6583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BEESTRIC aplicado em tratamento de sementes reduziu a população de múltiplas espécies de nematoides já aos 45 dias após emergência, reforçando seu papel na proteção do sistema radicular desde o início do ciclo.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26280" y="562356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Dr. Weder Nunes Ferreira Junior — Instituto Goiano de Agricultura (IGA). Montividiu/GO, 2025.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GRAPBees</a:t>
            </a:r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BIOSTAT · BEESECT · BEESTRIC</a:t>
            </a:r>
            <a:endParaRPr lang="en-US" sz="900" dirty="0"/>
          </a:p>
        </p:txBody>
      </p:sp>
      <p:pic>
        <p:nvPicPr>
          <p:cNvPr id="26" name="Image 0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6419088"/>
            <a:ext cx="566928" cy="32004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7F9F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BEESTRIC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Argumento comercial para o consultor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de campo — sem jargão técnico excessivo.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5120640" cy="3840480"/>
          </a:xfrm>
          <a:prstGeom prst="roundRect">
            <a:avLst>
              <a:gd name="adj" fmla="val 2381"/>
            </a:avLst>
          </a:prstGeom>
          <a:solidFill>
            <a:srgbClr val="E8A33D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488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960120" y="2788920"/>
            <a:ext cx="44805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5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“Os escleródios do mofo branco ficam até 10 anos no solo. BEESTRIC começa a trabalhar no tratamento de sementes — antes de a doença aparecer, não depois.”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6035040" y="2363724"/>
            <a:ext cx="438912" cy="438912"/>
          </a:xfrm>
          <a:prstGeom prst="hexagon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6035040" y="23637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675120" y="217627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Venda prevenção, não remédio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675120" y="25603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 do fungicida químico curativo, BEESTRIC coloniza a rizosfera antes do patógeno — o argumento é proteção, não resgate.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3323844"/>
            <a:ext cx="438912" cy="438912"/>
          </a:xfrm>
          <a:prstGeom prst="hexagon">
            <a:avLst/>
          </a:prstGeom>
          <a:solidFill>
            <a:srgbClr val="E8A33D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3238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675120" y="313639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todo Trichoderma é igual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6675120" y="352044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 g/kg de ativo e 1×10¹⁰ UFC/g — concentração e garantia de 11 meses acima da média dos 46 registros concorrentes no mercado.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35040" y="4283964"/>
            <a:ext cx="438912" cy="438912"/>
          </a:xfrm>
          <a:prstGeom prst="hexagon">
            <a:avLst/>
          </a:prstGeom>
          <a:solidFill>
            <a:srgbClr val="E8A33D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428396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75120" y="409651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Multi-alvo em um único produto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6675120" y="448056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Mofo branco, Rizoctonia, Macrophomina e nematoide das lesões — um produto cobrindo o pacote de doenças de solo mais comum em soja.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035040" y="5244084"/>
            <a:ext cx="438912" cy="438912"/>
          </a:xfrm>
          <a:prstGeom prst="hexagon">
            <a:avLst/>
          </a:prstGeom>
          <a:solidFill>
            <a:srgbClr val="E8A33D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524408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675120" y="5056632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 local, produtor local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6675120" y="544068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validado em Montividiu/GO, cultivar CZ 37B43 — fale com estudo feito na região de atuação do consultor, não só em vitrine.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51052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1528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GRAPBees</a:t>
            </a:r>
            <a:pPr algn="l" indent="0" marL="0">
              <a:buNone/>
            </a:pPr>
            <a:r>
              <a:rPr lang="en-US" sz="9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|  BIOSTAT · BEESECT · BEESTRIC</a:t>
            </a:r>
            <a:endParaRPr lang="en-US" sz="900" dirty="0"/>
          </a:p>
        </p:txBody>
      </p:sp>
      <p:pic>
        <p:nvPicPr>
          <p:cNvPr id="27" name="Image 0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09960" y="6419088"/>
            <a:ext cx="566928" cy="32004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457200"/>
            <a:ext cx="1874520" cy="38404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572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BEESTRIC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96012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mecanismo de ação à venda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AEB9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visual do bloco — encerramento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2578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0152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MECANISMO DE AÇÃO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754380" y="2738628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0152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1540" y="273862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Micoparasitismo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54380" y="3771900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0152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91540" y="3771900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Competição por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espaço e alimento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54380" y="4805172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0152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91540" y="4805172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Antibiose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680460" y="3886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45770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AGRONÔMICO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86300" y="3255264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23460" y="3255264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44,1% menos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Helicotylenchus (45 DAE)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686300" y="4288536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23460" y="4288536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Rizosfera protegida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desde o TS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12380" y="3886200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E78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89620" y="2148840"/>
            <a:ext cx="3246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ARGUMENTO DE VENDA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618220" y="3255264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755380" y="3255264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“Prevenção que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 anos no solo”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618220" y="4288536"/>
            <a:ext cx="2788920" cy="777240"/>
          </a:xfrm>
          <a:prstGeom prst="roundRect">
            <a:avLst>
              <a:gd name="adj" fmla="val 9412"/>
            </a:avLst>
          </a:prstGeom>
          <a:solidFill>
            <a:srgbClr val="2A2D31"/>
          </a:solidFill>
          <a:ln w="15875">
            <a:solidFill>
              <a:srgbClr val="E8A3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755380" y="4288536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Cobre 4 alvos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 produto</a:t>
            </a:r>
            <a:endParaRPr lang="en-US" sz="1150" dirty="0"/>
          </a:p>
        </p:txBody>
      </p:sp>
      <p:pic>
        <p:nvPicPr>
          <p:cNvPr id="26" name="Image 0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6263640"/>
            <a:ext cx="685800" cy="38404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371600" y="632764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#AGRO desde as Raízes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1475720" y="60350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7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COMPARADOR-NUTRICIONAL/a96ed778-d9a0-529f-839e-2754e2e9a779/scratchpad/imgs/assets/wheat_field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1101C">
              <a:alpha val="78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822960" y="640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Sequenciamento fisiológico Agrocete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822960" y="11887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raiz sustenta a lavoura. A parte aérea garante o grão. GRAPBees cobre as duas frentes.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822960" y="21488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10161C">
              <a:alpha val="88000"/>
            </a:srgbClr>
          </a:solidFill>
          <a:ln w="19050">
            <a:solidFill>
              <a:srgbClr val="0152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51560" y="2377440"/>
            <a:ext cx="502920" cy="502920"/>
          </a:xfrm>
          <a:prstGeom prst="ellipse">
            <a:avLst/>
          </a:prstGeom>
          <a:solidFill>
            <a:srgbClr val="01528A"/>
          </a:solidFill>
          <a:ln/>
        </p:spPr>
      </p:sp>
      <p:sp>
        <p:nvSpPr>
          <p:cNvPr id="8" name="Text 5"/>
          <p:cNvSpPr/>
          <p:nvPr/>
        </p:nvSpPr>
        <p:spPr>
          <a:xfrm>
            <a:off x="10515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05156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BIOSTAT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051560" y="3566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 raiz do nematoide — no TS e no sulco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26280" y="21488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10161C">
              <a:alpha val="88000"/>
            </a:srgbClr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754880" y="237744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3" name="Text 10"/>
          <p:cNvSpPr/>
          <p:nvPr/>
        </p:nvSpPr>
        <p:spPr>
          <a:xfrm>
            <a:off x="47548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7548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BEESTRIC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4754880" y="3566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 raiz dos fungos de solo — no TS e reforço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0" y="2148840"/>
            <a:ext cx="3383280" cy="2331720"/>
          </a:xfrm>
          <a:prstGeom prst="roundRect">
            <a:avLst>
              <a:gd name="adj" fmla="val 3922"/>
            </a:avLst>
          </a:prstGeom>
          <a:solidFill>
            <a:srgbClr val="10161C">
              <a:alpha val="88000"/>
            </a:srgbClr>
          </a:solidFill>
          <a:ln w="19050">
            <a:solidFill>
              <a:srgbClr val="17993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458200" y="2377440"/>
            <a:ext cx="502920" cy="502920"/>
          </a:xfrm>
          <a:prstGeom prst="ellipse">
            <a:avLst/>
          </a:prstGeom>
          <a:solidFill>
            <a:srgbClr val="17993F"/>
          </a:solidFill>
          <a:ln/>
        </p:spPr>
      </p:sp>
      <p:sp>
        <p:nvSpPr>
          <p:cNvPr id="18" name="Text 15"/>
          <p:cNvSpPr/>
          <p:nvPr/>
        </p:nvSpPr>
        <p:spPr>
          <a:xfrm>
            <a:off x="8458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45820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BEESECT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8458200" y="356616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E7EE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Protege a parte aérea das lagartas — do V3 ao R5.3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822960" y="4892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E8A3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Biológico não é tudo igual. Biológico é Agrocete.</a:t>
            </a:r>
            <a:endParaRPr lang="en-US" sz="1800" dirty="0"/>
          </a:p>
        </p:txBody>
      </p:sp>
      <p:pic>
        <p:nvPicPr>
          <p:cNvPr id="22" name="Image 1" descr="/tmp/claude-0/-home-user-COMPARADOR-NUTRICIONAL/a96ed778-d9a0-529f-839e-2754e2e9a779/scratchpad/imgs/assets/agrocete_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806440"/>
            <a:ext cx="960120" cy="530352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1874520" y="592531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#AGRO desde as Raízes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822960" y="64008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4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P&amp;D: Lidiany Bonfim — lidiany.bonfim@agrocete.com  |  @agrocetebrasil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2026-08-01T19:55:49Z</dcterms:created>
  <dcterms:modified xsi:type="dcterms:W3CDTF">2026-08-01T19:55:49Z</dcterms:modified>
</cp:coreProperties>
</file>